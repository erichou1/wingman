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Wingman. Your agent goes on the first date.</a:t>
            </a:r>
          </a:p>
          <a:p/>
          <a:p>
            <a:r>
              <a:t>(8 seconds. Then move.)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made a commercial.</a:t>
            </a:r>
          </a:p>
          <a:p/>
          <a:p>
            <a:r>
              <a:t>(Play it. Say nothing over it. ~30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now you are judging a whole person off six photos and “I love to travel.”</a:t>
            </a:r>
          </a:p>
          <a:p>
            <a:r>
              <a:t>Every dating app ranks profiles. A profile is the least interesting thing about anyone.</a:t>
            </a:r>
          </a:p>
          <a:p/>
          <a:p>
            <a:r>
              <a:t>(14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steps.</a:t>
            </a:r>
          </a:p>
          <a:p>
            <a:r>
              <a:t>Connect: your agent reads your ChatGPT or Claude export, so it learns you and not your bio.</a:t>
            </a:r>
          </a:p>
          <a:p>
            <a:r>
              <a:t>Rehearse: before you ever see a card, your agent has already had the conversation with theirs.</a:t>
            </a:r>
          </a:p>
          <a:p>
            <a:r>
              <a:t>Swipe: the deck is ranked by how that rehearsal went.</a:t>
            </a:r>
          </a:p>
          <a:p>
            <a:r>
              <a:t>Reveal: if you both like each other, you both get to read it.</a:t>
            </a:r>
          </a:p>
          <a:p/>
          <a:p>
            <a:r>
              <a:t>(28 seconds. Land hard on Rehearse.)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AIs talked about you behind your back, and now you get to read it.</a:t>
            </a:r>
          </a:p>
          <a:p>
            <a:r>
              <a:t>Every line cites a field you approved. That is what makes it feel fair instead of creepy.</a:t>
            </a:r>
          </a:p>
          <a:p/>
          <a:p>
            <a:r>
              <a:t>(22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design choice. We rank by the weaker direction, not the average.</a:t>
            </a:r>
          </a:p>
          <a:p>
            <a:r>
              <a:t>A ten-to-two match loses to a six-to-six. That is why the number moves.</a:t>
            </a:r>
          </a:p>
          <a:p/>
          <a:p>
            <a:r>
              <a:t>(13 seconds. If asked: these are projected, not measured. The benchmark is CRRS on the Libimseti split and it is what we would run next. Do not claim you ran 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else sorts profiles. We rehearse the conversation.</a:t>
            </a:r>
          </a:p>
          <a:p>
            <a:r>
              <a:t>The iOS app and the gateway are live. Come find us, and bring your ChatGPT export.</a:t>
            </a:r>
          </a:p>
          <a:p/>
          <a:p>
            <a:r>
              <a:t>(10 seconds.)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95728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32888" y="2395728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>
                <a:solidFill>
                  <a:srgbClr val="F7F4F1"/>
                </a:solidFill>
                <a:latin typeface="Arial"/>
              </a:rPr>
              <a:t>Wingman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96512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8E0DA"/>
                </a:solidFill>
                <a:latin typeface="Arial"/>
              </a:rPr>
              <a:t>Your agent goes on the first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6E6159"/>
                </a:solidFill>
                <a:latin typeface="Courier New"/>
              </a:rPr>
              <a:t>LOS GATOS HACKS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ROLL THE 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7F4F1"/>
                </a:solidFill>
                <a:latin typeface="Arial"/>
              </a:rPr>
              <a:t>We made a commercial. It is short.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95728"/>
            <a:ext cx="10637215" cy="3803904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A3E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38647" y="3877056"/>
            <a:ext cx="914400" cy="914400"/>
          </a:xfrm>
          <a:prstGeom prst="ellipse">
            <a:avLst/>
          </a:prstGeom>
          <a:solidFill>
            <a:srgbClr val="FF21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5967831" y="4169663"/>
            <a:ext cx="310896" cy="329184"/>
          </a:xfrm>
          <a:prstGeom prst="triangle">
            <a:avLst/>
          </a:prstGeom>
          <a:solidFill>
            <a:srgbClr val="FF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647" y="49926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DROP THE VIDEO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87782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14100E"/>
                </a:solidFill>
                <a:latin typeface="Arial"/>
              </a:rPr>
              <a:t>You are judging a whole person from six photos and </a:t>
            </a:r>
            <a:r>
              <a:rPr sz="4600" b="1">
                <a:solidFill>
                  <a:srgbClr val="E8324F"/>
                </a:solidFill>
                <a:latin typeface="Arial"/>
              </a:rPr>
              <a:t>"I love to travel."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4632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5C514B"/>
                </a:solidFill>
                <a:latin typeface="Arial"/>
              </a:rPr>
              <a:t>Swipe apps rank profiles. A profile is the least interesting thing about anybody.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2140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4100E"/>
                </a:solidFill>
                <a:latin typeface="Arial"/>
              </a:rPr>
              <a:t>Your agent does the awkward part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279392"/>
            <a:ext cx="2468880" cy="32004"/>
          </a:xfrm>
          <a:prstGeom prst="rect">
            <a:avLst/>
          </a:prstGeom>
          <a:solidFill>
            <a:srgbClr val="FF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80559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7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00E"/>
                </a:solidFill>
                <a:latin typeface="Arial"/>
              </a:rP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79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5C514B"/>
                </a:solidFill>
                <a:latin typeface="Arial"/>
              </a:rPr>
              <a:t>Your agent reads your ChatGPT or Claude export. It learns you, not your bio.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279392"/>
            <a:ext cx="2468880" cy="32004"/>
          </a:xfrm>
          <a:prstGeom prst="rect">
            <a:avLst/>
          </a:prstGeom>
          <a:solidFill>
            <a:srgbClr val="FF21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480559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75487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00E"/>
                </a:solidFill>
                <a:latin typeface="Arial"/>
              </a:rPr>
              <a:t>Rehearse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212079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5C514B"/>
                </a:solidFill>
                <a:latin typeface="Arial"/>
              </a:rPr>
              <a:t>Before you see a card, your agent talks to theirs. Four turns, consent-scoped.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279392"/>
            <a:ext cx="2468880" cy="32004"/>
          </a:xfrm>
          <a:prstGeom prst="rect">
            <a:avLst/>
          </a:prstGeom>
          <a:solidFill>
            <a:srgbClr val="4A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480559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75487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00E"/>
                </a:solidFill>
                <a:latin typeface="Arial"/>
              </a:rPr>
              <a:t>Swipe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212079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5C514B"/>
                </a:solidFill>
                <a:latin typeface="Arial"/>
              </a:rPr>
              <a:t>The deck is ranked by how the rehearsal went, not by profile similarity.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4279392"/>
            <a:ext cx="2468880" cy="32004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480559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75487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100E"/>
                </a:solidFill>
                <a:latin typeface="Arial"/>
              </a:rPr>
              <a:t>Reveal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212079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5C514B"/>
                </a:solidFill>
                <a:latin typeface="Arial"/>
              </a:rPr>
              <a:t>After a mutual match, you both get to read what the agents said.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THE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4100E"/>
                </a:solidFill>
                <a:latin typeface="Arial"/>
              </a:rPr>
              <a:t>Two AIs talked about you behind your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564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8B7D75"/>
                </a:solidFill>
                <a:latin typeface="Courier New"/>
              </a:rPr>
              <a:t>HER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8568" y="3310128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FFFDFB"/>
          </a:solidFill>
          <a:ln w="12700">
            <a:solidFill>
              <a:srgbClr val="DF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78024" y="349300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00E"/>
                </a:solidFill>
                <a:latin typeface="Arial"/>
              </a:rPr>
              <a:t>They both cook to decompress, not to impress.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60">
                <a:solidFill>
                  <a:srgbClr val="8B7D75"/>
                </a:solidFill>
                <a:latin typeface="Courier New"/>
              </a:rPr>
              <a:t>HIS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4169664"/>
            <a:ext cx="6766560" cy="658368"/>
          </a:xfrm>
          <a:prstGeom prst="roundRect">
            <a:avLst>
              <a:gd name="adj" fmla="val 14000"/>
            </a:avLst>
          </a:prstGeom>
          <a:solidFill>
            <a:srgbClr val="FFFDFB"/>
          </a:solidFill>
          <a:ln w="12700">
            <a:solidFill>
              <a:srgbClr val="E3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435254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00E"/>
                </a:solidFill>
                <a:latin typeface="Arial"/>
              </a:rPr>
              <a:t>Agreed. Open question: she is free most evenings, he is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5138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324F"/>
                </a:solidFill>
                <a:latin typeface="Arial"/>
              </a:rPr>
              <a:t>Opener →  </a:t>
            </a:r>
            <a:r>
              <a:rPr sz="1500" b="0">
                <a:solidFill>
                  <a:srgbClr val="14100E"/>
                </a:solidFill>
                <a:latin typeface="Arial"/>
              </a:rPr>
              <a:t>"What is the last thing you cooked that went badly?"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15584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514B"/>
                </a:solidFill>
                <a:latin typeface="Arial"/>
              </a:rPr>
              <a:t>Every line cites a field they each approved. Nothing else leaves the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HOW IT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>
                <a:solidFill>
                  <a:srgbClr val="14100E"/>
                </a:solidFill>
                <a:latin typeface="Arial"/>
              </a:rPr>
              <a:t>We rank by the weaker direction, not the average.</a:t>
            </a:r>
          </a:p>
        </p:txBody>
      </p:sp>
      <p:pic>
        <p:nvPicPr>
          <p:cNvPr id="4" name="Picture 3" descr="chart-slide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103120"/>
            <a:ext cx="8229600" cy="4499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7D75"/>
                </a:solidFill>
                <a:latin typeface="Courier New"/>
              </a:rPr>
              <a:t>WHERE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8595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>
                <a:solidFill>
                  <a:srgbClr val="F7F4F1"/>
                </a:solidFill>
                <a:latin typeface="Arial"/>
              </a:rPr>
              <a:t>Everyone else sorts profiles. </a:t>
            </a:r>
            <a:r>
              <a:rPr sz="4200" b="1">
                <a:solidFill>
                  <a:srgbClr val="FF5B58"/>
                </a:solidFill>
                <a:latin typeface="Arial"/>
              </a:rPr>
              <a:t>We rehearse the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0235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iOS app, agent gateway,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live profile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510235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Rehearsal inside the deck,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Match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200">
                <a:solidFill>
                  <a:srgbClr val="8B7D75"/>
                </a:solidFill>
                <a:latin typeface="Courier New"/>
              </a:rPr>
              <a:t>TRY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510235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Come find us.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E8E0DA"/>
                </a:solidFill>
                <a:latin typeface="Arial"/>
              </a:rPr>
              <a:t>Bring your ChatGPT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